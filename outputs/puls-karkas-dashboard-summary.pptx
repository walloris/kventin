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b0334c2f8c4106" /><Relationship Type="http://schemas.openxmlformats.org/officeDocument/2006/relationships/extended-properties" Target="/docProps/app.xml" Id="Rac9c2a75391f4d05" /><Relationship Type="http://schemas.openxmlformats.org/officeDocument/2006/relationships/officeDocument" Target="/ppt/presentation.xml" Id="R15ec0af589a247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2eeb53f974355"/>
  </p:sldMasterIdLst>
  <p:notesMasterIdLst>
    <p:notesMasterId xmlns:r="http://schemas.openxmlformats.org/officeDocument/2006/relationships" r:id="R894275c0cdc04f04"/>
  </p:notesMasterIdLst>
  <p:sldIdLst>
    <p:sldId xmlns:r="http://schemas.openxmlformats.org/officeDocument/2006/relationships" id="256" r:id="Ra98586063900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00f4f3ab744ee9" /><Relationship Type="http://schemas.openxmlformats.org/officeDocument/2006/relationships/slideMaster" Target="/ppt/slideMasters/slideMaster1.xml" Id="R5552eeb53f974355" /><Relationship Type="http://schemas.openxmlformats.org/officeDocument/2006/relationships/notesMaster" Target="/ppt/notesMasters/notesMaster1.xml" Id="R894275c0cdc04f04" /><Relationship Type="http://schemas.openxmlformats.org/officeDocument/2006/relationships/presProps" Target="/ppt/presProps.xml" Id="R300e1794ea11413f" /><Relationship Type="http://schemas.openxmlformats.org/officeDocument/2006/relationships/tableStyles" Target="/ppt/tableStyles.xml" Id="R54b7eabd92c04f0e" /><Relationship Type="http://schemas.openxmlformats.org/officeDocument/2006/relationships/slide" Target="/ppt/slides/slide1.xml" Id="Ra98586063900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5afb816d344b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00d33519ba401a" /><Relationship Type="http://schemas.openxmlformats.org/officeDocument/2006/relationships/notesMaster" Target="/ppt/notesMasters/notesMaster1.xml" Id="Rbd2796f11110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/Users/walloris/Downloads/5828d199-db9f-45e6-9d2f-c8e4fe9f986f.xlsx — Sheet1, rows 2–100.</a:t>
            </a:r>
          </a:p>
          <a:p xmlns:a="http://schemas.openxmlformats.org/drawingml/2006/main">
            <a:r>
              <a:t>- Calculations: 29/39 achieved metric checks; 5/8 teams at or above 80%; PR-to-task target met by 2/8 teams.</a:t>
            </a:r>
          </a:p>
          <a:p xmlns:a="http://schemas.openxmlformats.org/drawingml/2006/main">
            <a:r>
              <a:t>- Documentation denominator is 7 because Product Analytics has no releases.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fe6050d8e45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171c8c7204e74" /><Relationship Type="http://schemas.openxmlformats.org/officeDocument/2006/relationships/slideLayout" Target="/ppt/slideLayouts/slideLayout1.xml" Id="Ra906264c819f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6264c819f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38accdee4c6f" /><Relationship Type="http://schemas.openxmlformats.org/officeDocument/2006/relationships/chart" Target="/ppt/slides/charts/chart1.xml" Id="R609ef0f9548740ca" /><Relationship Type="http://schemas.openxmlformats.org/officeDocument/2006/relationships/notesSlide" Target="/ppt/notesSlides/notesSlide1.xml" Id="Rdd0dd7ef038a4ca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команд</c:v>
          </c:tx>
          <c:spPr>
            <a:solidFill xmlns:a="http://schemas.openxmlformats.org/drawingml/2006/main">
              <a:srgbClr val="B9E7F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7DCF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DCF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D7EEF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7EEF8"/>
              </a:solidFill>
            </c:spPr>
          </c:dPt>
          <c:cat>
            <c:strLit>
              <c:ptCount val="5"/>
              <c:pt idx="0">
                <c:v>PR ↔ задача</c:v>
              </c:pt>
              <c:pt idx="1">
                <c:v>Авторазвертывания</c:v>
              </c:pt>
              <c:pt idx="2">
                <c:v>Истории/баги ↔ код</c:v>
              </c:pt>
              <c:pt idx="3">
                <c:v>Документирование*</c:v>
              </c:pt>
              <c:pt idx="4">
                <c:v>Зрелость ПСИ</c:v>
              </c:pt>
            </c:strLit>
          </c:cat>
          <c:val>
            <c:numLit>
              <c:formatCode>0"%"</c:formatCode>
              <c:ptCount val="5"/>
              <c:pt idx="0">
                <c:v>25</c:v>
              </c:pt>
              <c:pt idx="1">
                <c:v>75</c:v>
              </c:pt>
              <c:pt idx="2">
                <c:v>75</c:v>
              </c:pt>
              <c:pt idx="3">
                <c:v>100</c:v>
              </c:pt>
              <c:pt idx="4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6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673"/>
                </a:solidFill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A64AB501-96E1-44F5-B3C7-7264096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Все цели выполняет 1 из 8 команд; проблема — PR ↔ задача</a:t>
            </a:r>
          </a:p>
        </p:txBody>
      </p:sp>
      <p:sp>
        <p:nvSpPr>
          <p:cNvPr id="2" name="scope-line">
            <a:extLst xmlns:a="http://schemas.openxmlformats.org/drawingml/2006/main">
              <a:ext uri="{FF2B5EF4-FFF2-40B4-BE49-F238E27FC236}">
                <a16:creationId xmlns:a16="http://schemas.microsoft.com/office/drawing/2014/main" id="{589941B3-64BB-4A28-9A8A-F058C7A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Пульс-Каркас  ·  кластер Каркас  ·  блок «Люди и культура»</a:t>
            </a:r>
          </a:p>
        </p:txBody>
      </p:sp>
      <p:sp>
        <p:nvSpPr>
          <p:cNvPr id="3" name="chart-frame">
            <a:extLst xmlns:a="http://schemas.openxmlformats.org/drawingml/2006/main">
              <a:ext uri="{FF2B5EF4-FFF2-40B4-BE49-F238E27FC236}">
                <a16:creationId xmlns:a16="http://schemas.microsoft.com/office/drawing/2014/main" id="{C0FD8AF4-2966-4565-8B63-3E8A9FB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5534025" cy="4648200"/>
          </a:xfrm>
          <a:prstGeom xmlns:a="http://schemas.openxmlformats.org/drawingml/2006/main" prst="roundRect">
            <a:avLst>
              <a:gd name="adj" fmla="val 1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4" name="chart-title">
            <a:extLst xmlns:a="http://schemas.openxmlformats.org/drawingml/2006/main">
              <a:ext uri="{FF2B5EF4-FFF2-40B4-BE49-F238E27FC236}">
                <a16:creationId xmlns:a16="http://schemas.microsoft.com/office/drawing/2014/main" id="{48A52E3C-9AF7-4FBE-8406-D6A5096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Доля команд, достигших цели по метрике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0550" y="2076450"/>
          <a:ext xmlns:a="http://schemas.openxmlformats.org/drawingml/2006/main" cx="5095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9ef0f9548740ca"/>
          </a:graphicData>
        </a:graphic>
      </p:graphicFrame>
      <p:sp>
        <p:nvSpPr>
          <p:cNvPr id="6" name="chart-footnote">
            <a:extLst xmlns:a="http://schemas.openxmlformats.org/drawingml/2006/main">
              <a:ext uri="{FF2B5EF4-FFF2-40B4-BE49-F238E27FC236}">
                <a16:creationId xmlns:a16="http://schemas.microsoft.com/office/drawing/2014/main" id="{70AC0645-11D0-4572-9E5A-A65DF8E9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rPr>
              <a:t>* 7 из 7 измеренных команд; у «Продуктовой аналитики» нет релизов.</a:t>
            </a:r>
          </a:p>
        </p:txBody>
      </p:sp>
      <p:sp>
        <p:nvSpPr>
          <p:cNvPr id="7" name="gap-eyebrow">
            <a:extLst xmlns:a="http://schemas.openxmlformats.org/drawingml/2006/main">
              <a:ext uri="{FF2B5EF4-FFF2-40B4-BE49-F238E27FC236}">
                <a16:creationId xmlns:a16="http://schemas.microsoft.com/office/drawing/2014/main" id="{BC9CE3F4-F071-4793-8057-13967D0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СИСТЕМНЫЙ РАЗРЫВ</a:t>
            </a:r>
          </a:p>
        </p:txBody>
      </p:sp>
      <p:sp>
        <p:nvSpPr>
          <p:cNvPr id="8" name="gap-number">
            <a:extLst xmlns:a="http://schemas.openxmlformats.org/drawingml/2006/main">
              <a:ext uri="{FF2B5EF4-FFF2-40B4-BE49-F238E27FC236}">
                <a16:creationId xmlns:a16="http://schemas.microsoft.com/office/drawing/2014/main" id="{9346ED9D-F889-4416-AB46-9D5EF78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002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 из 8</a:t>
            </a:r>
          </a:p>
        </p:txBody>
      </p:sp>
      <p:sp>
        <p:nvSpPr>
          <p:cNvPr id="9" name="gap-description">
            <a:extLst xmlns:a="http://schemas.openxmlformats.org/drawingml/2006/main">
              <a:ext uri="{FF2B5EF4-FFF2-40B4-BE49-F238E27FC236}">
                <a16:creationId xmlns:a16="http://schemas.microsoft.com/office/drawing/2014/main" id="{5D9F4352-ED14-4169-9511-171DC3D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2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272F"/>
                </a:solidFill>
                <a:latin typeface="Helvetica Neue"/>
                <a:ea typeface="Helvetica Neue"/>
                <a:cs typeface="Helvetica Neue"/>
              </a:rPr>
              <a:t>команд не достигают цели 80% по связи PR с задачами. У отстающих результат — от 64,3% до 79,1%.</a:t>
            </a:r>
          </a:p>
        </p:txBody>
      </p:sp>
      <p:sp>
        <p:nvSpPr>
          <p:cNvPr id="10" name="stats-rule">
            <a:extLst xmlns:a="http://schemas.openxmlformats.org/drawingml/2006/main">
              <a:ext uri="{FF2B5EF4-FFF2-40B4-BE49-F238E27FC236}">
                <a16:creationId xmlns:a16="http://schemas.microsoft.com/office/drawing/2014/main" id="{280802B7-8883-4D94-A728-8DE9BD06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t-one">
            <a:extLst xmlns:a="http://schemas.openxmlformats.org/drawingml/2006/main">
              <a:ext uri="{FF2B5EF4-FFF2-40B4-BE49-F238E27FC236}">
                <a16:creationId xmlns:a16="http://schemas.microsoft.com/office/drawing/2014/main" id="{581F1005-55A4-4EE3-9922-EF9CAE8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74%</a:t>
            </a:r>
          </a:p>
        </p:txBody>
      </p:sp>
      <p:sp>
        <p:nvSpPr>
          <p:cNvPr id="12" name="stat-one-label">
            <a:extLst xmlns:a="http://schemas.openxmlformats.org/drawingml/2006/main">
              <a:ext uri="{FF2B5EF4-FFF2-40B4-BE49-F238E27FC236}">
                <a16:creationId xmlns:a16="http://schemas.microsoft.com/office/drawing/2014/main" id="{47C85A9E-A7DA-4FDC-84E4-9738DAC3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rPr>
              <a:t>проверок метрик</a:t>
            </a:r>
          </a:p>
          <a:p xmlns:a="http://schemas.openxmlformats.org/drawingml/2006/main">
            <a:pPr algn="l">
              <a:def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rPr>
              <a:t>выполнено · 29 из 39</a:t>
            </a:r>
          </a:p>
        </p:txBody>
      </p:sp>
      <p:sp>
        <p:nvSpPr>
          <p:cNvPr id="13" name="stat-two">
            <a:extLst xmlns:a="http://schemas.openxmlformats.org/drawingml/2006/main">
              <a:ext uri="{FF2B5EF4-FFF2-40B4-BE49-F238E27FC236}">
                <a16:creationId xmlns:a16="http://schemas.microsoft.com/office/drawing/2014/main" id="{FDE2D67E-020D-455D-A17F-E3498E98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053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из 8</a:t>
            </a:r>
          </a:p>
        </p:txBody>
      </p:sp>
      <p:sp>
        <p:nvSpPr>
          <p:cNvPr id="14" name="stat-two-label">
            <a:extLst xmlns:a="http://schemas.openxmlformats.org/drawingml/2006/main">
              <a:ext uri="{FF2B5EF4-FFF2-40B4-BE49-F238E27FC236}">
                <a16:creationId xmlns:a16="http://schemas.microsoft.com/office/drawing/2014/main" id="{8559B1ED-BC07-4122-A7B4-7E28B30F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530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rPr>
              <a:t>команд выполняют</a:t>
            </a:r>
          </a:p>
          <a:p xmlns:a="http://schemas.openxmlformats.org/drawingml/2006/main">
            <a:pPr algn="l">
              <a:def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F4651"/>
                </a:solidFill>
                <a:latin typeface="Helvetica Neue"/>
                <a:ea typeface="Helvetica Neue"/>
                <a:cs typeface="Helvetica Neue"/>
              </a:rPr>
              <a:t>не менее 80% метрик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0E56604-40D3-4DBD-A424-81FC7687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Источник: выгрузка дашборда · Sheet1 · 8 команд</a:t>
            </a:r>
          </a:p>
        </p:txBody>
      </p:sp>
    </p:spTree>
    <p:extLst>
      <p:ext uri="{BB962C8B-B14F-4D97-AF65-F5344CB8AC3E}">
        <p14:creationId xmlns:p14="http://schemas.microsoft.com/office/powerpoint/2010/main" val="1983247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2026-08-14T08:53:32.2480000Z</dcterms:created>
  <dcterms:modified xsi:type="dcterms:W3CDTF">2026-08-14T08:53:32.2480000Z</dcterms:modified>
</coreProperties>
</file>